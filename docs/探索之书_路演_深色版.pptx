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C4956A"/>
                </a:solidFill>
              </a:rPr>
              <a:t>探索之书 (The Book of Exploration)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AB8A0"/>
                </a:solidFill>
              </a:rPr>
              <a:t>在当下，看见最深处的自己</a:t>
            </a:r>
          </a:p>
          <a:p/>
          <a:p>
            <a:r>
              <a:rPr>
                <a:solidFill>
                  <a:srgbClr val="7AB8A0"/>
                </a:solidFill>
              </a:rPr>
              <a:t>意料之外，情理之中 —— 你的两分钟身心重置指南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4956A"/>
                </a:solidFill>
              </a:rPr>
              <a:t>痛点洞察：身心失联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E8E4DF"/>
                </a:solidFill>
              </a:rPr>
              <a:t>焦虑、失眠、拖延的背后：人与自身当下的“断连”。</a:t>
            </a:r>
          </a:p>
          <a:p>
            <a:pPr/>
            <a:r>
              <a:rPr sz="2400">
                <a:solidFill>
                  <a:srgbClr val="E8E4DF"/>
                </a:solidFill>
              </a:rPr>
              <a:t>传统心理干预的死局：大道理泛滥，处于情绪内耗中的人最反感说教。</a:t>
            </a:r>
          </a:p>
          <a:p>
            <a:pPr/>
            <a:r>
              <a:rPr sz="2400">
                <a:solidFill>
                  <a:srgbClr val="E8E4DF"/>
                </a:solidFill>
              </a:rPr>
              <a:t>核心痛点：我们不仅需要情绪的创可贴，更需要一面能映照潜意识的镜子。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4956A"/>
                </a:solidFill>
              </a:rPr>
              <a:t>我们的解法：东方修行哲学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E8E4DF"/>
                </a:solidFill>
              </a:rPr>
              <a:t>不给说教，只给微行动：2 分钟内可完成的意料之外的动作。</a:t>
            </a:r>
          </a:p>
          <a:p>
            <a:pPr/>
            <a:r>
              <a:rPr sz="2400">
                <a:solidFill>
                  <a:srgbClr val="E8E4DF"/>
                </a:solidFill>
              </a:rPr>
              <a:t>暗合“天、地、人”修行智慧：</a:t>
            </a:r>
          </a:p>
          <a:p>
            <a:pPr lvl="1"/>
            <a:r>
              <a:rPr sz="2000">
                <a:solidFill>
                  <a:srgbClr val="E8E4DF"/>
                </a:solidFill>
              </a:rPr>
              <a:t>☁️ 天：调息与念头（如颅腔共鸣，向下剥离思绪）</a:t>
            </a:r>
          </a:p>
          <a:p>
            <a:pPr lvl="1"/>
            <a:r>
              <a:rPr sz="2000">
                <a:solidFill>
                  <a:srgbClr val="E8E4DF"/>
                </a:solidFill>
              </a:rPr>
              <a:t>🌍 地：扎根与身体连接（如脚趾抓地，向上引导重力）</a:t>
            </a:r>
          </a:p>
          <a:p>
            <a:pPr lvl="1"/>
            <a:r>
              <a:rPr sz="2000">
                <a:solidFill>
                  <a:srgbClr val="E8E4DF"/>
                </a:solidFill>
              </a:rPr>
              <a:t>🧍 人：情绪与向内觉察（如轻捏眉心，释放社交紧绷）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4956A"/>
                </a:solidFill>
              </a:rPr>
              <a:t>Aha Moment：意料之外，情理之中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E8E4DF"/>
                </a:solidFill>
              </a:rPr>
              <a:t>案例：睡不着，脑子停不下来</a:t>
            </a:r>
          </a:p>
          <a:p>
            <a:pPr/>
            <a:r>
              <a:rPr sz="2400">
                <a:solidFill>
                  <a:srgbClr val="E8E4DF"/>
                </a:solidFill>
              </a:rPr>
              <a:t>行动：用脚趾抓床单（属于“地”的连接）。</a:t>
            </a:r>
          </a:p>
          <a:p>
            <a:pPr/>
            <a:r>
              <a:rPr sz="2400">
                <a:solidFill>
                  <a:srgbClr val="E8E4DF"/>
                </a:solidFill>
              </a:rPr>
              <a:t>科学原理：注意力强行从大脑拉回地面，激活副交感神经。</a:t>
            </a:r>
          </a:p>
          <a:p>
            <a:pPr/>
            <a:r>
              <a:rPr sz="2400">
                <a:solidFill>
                  <a:srgbClr val="E8E4DF"/>
                </a:solidFill>
              </a:rPr>
              <a:t>结果：大脑停机，真正回到“当下”。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4956A"/>
                </a:solidFill>
              </a:rPr>
              <a:t>深层洞察：看见微习惯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E8E4DF"/>
                </a:solidFill>
              </a:rPr>
              <a:t>每一次选择，都是潜意识的表达：</a:t>
            </a:r>
          </a:p>
          <a:p>
            <a:pPr lvl="1"/>
            <a:r>
              <a:rPr sz="2000">
                <a:solidFill>
                  <a:srgbClr val="E8E4DF"/>
                </a:solidFill>
              </a:rPr>
              <a:t>偏好“地”：可能长期缺乏安全感，需要物理连接。</a:t>
            </a:r>
          </a:p>
          <a:p>
            <a:pPr lvl="1"/>
            <a:r>
              <a:rPr sz="2000">
                <a:solidFill>
                  <a:srgbClr val="E8E4DF"/>
                </a:solidFill>
              </a:rPr>
              <a:t>偏好“天”：可能思维过度活跃，需要清空缓存。</a:t>
            </a:r>
          </a:p>
          <a:p>
            <a:pPr/>
            <a:r>
              <a:rPr sz="2400">
                <a:solidFill>
                  <a:srgbClr val="E8E4DF"/>
                </a:solidFill>
              </a:rPr>
              <a:t>数据挖掘：通过自然语言提问与选择偏好，穿透表象的失眠，看见深层的职场恐惧或关系焦虑。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4956A"/>
                </a:solidFill>
              </a:rPr>
              <a:t>商业闭环：从工具到转化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E8E4DF"/>
                </a:solidFill>
              </a:rPr>
              <a:t>1. 引流层 (免费)：2 分钟高频微行动，建立信任。</a:t>
            </a:r>
          </a:p>
          <a:p>
            <a:pPr/>
            <a:r>
              <a:rPr sz="2400">
                <a:solidFill>
                  <a:srgbClr val="E8E4DF"/>
                </a:solidFill>
              </a:rPr>
              <a:t>2. 留存与洞察：沉淀行为数据，定期生成「内在探索报告」。</a:t>
            </a:r>
          </a:p>
          <a:p>
            <a:pPr/>
            <a:r>
              <a:rPr sz="2400">
                <a:solidFill>
                  <a:srgbClr val="E8E4DF"/>
                </a:solidFill>
              </a:rPr>
              <a:t>3. 精准商业转化：顺理成章地推荐深度服务。</a:t>
            </a:r>
          </a:p>
          <a:p>
            <a:pPr lvl="1"/>
            <a:r>
              <a:rPr sz="2000">
                <a:solidFill>
                  <a:srgbClr val="E8E4DF"/>
                </a:solidFill>
              </a:rPr>
              <a:t>例如：定制化冥想课程、线下禅修营、一对一专业心理咨询。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C4956A"/>
                </a:solidFill>
              </a:rPr>
              <a:t>愿景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AB8A0"/>
                </a:solidFill>
              </a:rPr>
              <a:t>让每一个问题，</a:t>
            </a:r>
          </a:p>
          <a:p>
            <a:r>
              <a:rPr>
                <a:solidFill>
                  <a:srgbClr val="7AB8A0"/>
                </a:solidFill>
              </a:rPr>
              <a:t>都成为一次向内探索的修行。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C4956A"/>
                </a:solidFill>
              </a:rPr>
              <a:t>谢谢大家！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AB8A0"/>
                </a:solidFill>
              </a:rPr>
              <a:t>翻开探索之书，遇见当下的自己。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